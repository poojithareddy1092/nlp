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67" r:id="rId6"/>
    <p:sldId id="264" r:id="rId7"/>
    <p:sldId id="265" r:id="rId8"/>
    <p:sldId id="268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4D0E4"/>
    <a:srgbClr val="B0D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12954-8720-49E0-8102-55402A5F3CC7}" v="50" dt="2026-09-08T02:25:52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41B9007-A534-36B3-8535-9AA68C3D6C90}"/>
    <pc:docChg chg="addSld modSld">
      <pc:chgData name="Guest User" userId="" providerId="Windows Live" clId="Web-{D41B9007-A534-36B3-8535-9AA68C3D6C90}" dt="2026-08-29T05:10:05.212" v="24" actId="20577"/>
      <pc:docMkLst>
        <pc:docMk/>
      </pc:docMkLst>
      <pc:sldChg chg="modSp">
        <pc:chgData name="Guest User" userId="" providerId="Windows Live" clId="Web-{D41B9007-A534-36B3-8535-9AA68C3D6C90}" dt="2026-08-29T04:53:21.498" v="14" actId="20577"/>
        <pc:sldMkLst>
          <pc:docMk/>
          <pc:sldMk cId="2282852831" sldId="265"/>
        </pc:sldMkLst>
        <pc:spChg chg="mod">
          <ac:chgData name="Guest User" userId="" providerId="Windows Live" clId="Web-{D41B9007-A534-36B3-8535-9AA68C3D6C90}" dt="2026-08-29T04:53:21.498" v="14" actId="20577"/>
          <ac:spMkLst>
            <pc:docMk/>
            <pc:sldMk cId="2282852831" sldId="265"/>
            <ac:spMk id="2" creationId="{353DB728-FBFF-BCDB-51DD-9836A0BEC2E3}"/>
          </ac:spMkLst>
        </pc:spChg>
      </pc:sldChg>
      <pc:sldChg chg="addSp delSp modSp new">
        <pc:chgData name="Guest User" userId="" providerId="Windows Live" clId="Web-{D41B9007-A534-36B3-8535-9AA68C3D6C90}" dt="2026-08-29T05:10:05.212" v="24" actId="20577"/>
        <pc:sldMkLst>
          <pc:docMk/>
          <pc:sldMk cId="4220871028" sldId="267"/>
        </pc:sldMkLst>
        <pc:spChg chg="mod">
          <ac:chgData name="Guest User" userId="" providerId="Windows Live" clId="Web-{D41B9007-A534-36B3-8535-9AA68C3D6C90}" dt="2026-08-29T05:10:05.212" v="24" actId="20577"/>
          <ac:spMkLst>
            <pc:docMk/>
            <pc:sldMk cId="4220871028" sldId="267"/>
            <ac:spMk id="2" creationId="{44508105-442F-0EAD-37D4-9D08ABF5AB48}"/>
          </ac:spMkLst>
        </pc:spChg>
        <pc:picChg chg="add mod ord">
          <ac:chgData name="Guest User" userId="" providerId="Windows Live" clId="Web-{D41B9007-A534-36B3-8535-9AA68C3D6C90}" dt="2026-08-29T05:09:48.540" v="16"/>
          <ac:picMkLst>
            <pc:docMk/>
            <pc:sldMk cId="4220871028" sldId="267"/>
            <ac:picMk id="4" creationId="{72A04231-C45F-7952-5DF1-D030D3AC62A1}"/>
          </ac:picMkLst>
        </pc:picChg>
      </pc:sldChg>
    </pc:docChg>
  </pc:docChgLst>
  <pc:docChgLst>
    <pc:chgData name="poojithamullapudi86@gmail.com" userId="1a81917ccf916a64" providerId="LiveId" clId="{74D718CE-49C3-45D8-A7F9-E0ADD61EA6F5}"/>
    <pc:docChg chg="undo custSel addSld delSld modSld sldOrd modMainMaster">
      <pc:chgData name="poojithamullapudi86@gmail.com" userId="1a81917ccf916a64" providerId="LiveId" clId="{74D718CE-49C3-45D8-A7F9-E0ADD61EA6F5}" dt="2026-09-08T02:30:27" v="2033" actId="1076"/>
      <pc:docMkLst>
        <pc:docMk/>
      </pc:docMkLst>
      <pc:sldChg chg="modSp mod setBg">
        <pc:chgData name="poojithamullapudi86@gmail.com" userId="1a81917ccf916a64" providerId="LiveId" clId="{74D718CE-49C3-45D8-A7F9-E0ADD61EA6F5}" dt="2026-08-29T04:12:50.639" v="1923" actId="2711"/>
        <pc:sldMkLst>
          <pc:docMk/>
          <pc:sldMk cId="2277580950" sldId="256"/>
        </pc:sldMkLst>
        <pc:spChg chg="mod">
          <ac:chgData name="poojithamullapudi86@gmail.com" userId="1a81917ccf916a64" providerId="LiveId" clId="{74D718CE-49C3-45D8-A7F9-E0ADD61EA6F5}" dt="2026-08-29T04:12:50.639" v="1923" actId="2711"/>
          <ac:spMkLst>
            <pc:docMk/>
            <pc:sldMk cId="2277580950" sldId="256"/>
            <ac:spMk id="2" creationId="{4E2CD272-E015-8271-F656-454DD56510BF}"/>
          </ac:spMkLst>
        </pc:spChg>
      </pc:sldChg>
      <pc:sldChg chg="addSp delSp modSp new mod ord setBg">
        <pc:chgData name="poojithamullapudi86@gmail.com" userId="1a81917ccf916a64" providerId="LiveId" clId="{74D718CE-49C3-45D8-A7F9-E0ADD61EA6F5}" dt="2026-08-29T05:07:20.673" v="1938" actId="123"/>
        <pc:sldMkLst>
          <pc:docMk/>
          <pc:sldMk cId="984615306" sldId="257"/>
        </pc:sldMkLst>
        <pc:spChg chg="mod">
          <ac:chgData name="poojithamullapudi86@gmail.com" userId="1a81917ccf916a64" providerId="LiveId" clId="{74D718CE-49C3-45D8-A7F9-E0ADD61EA6F5}" dt="2026-08-29T05:07:20.673" v="1938" actId="123"/>
          <ac:spMkLst>
            <pc:docMk/>
            <pc:sldMk cId="984615306" sldId="257"/>
            <ac:spMk id="3" creationId="{AFE2832B-B9FB-C5D9-DDDF-ADE34F644074}"/>
          </ac:spMkLst>
        </pc:spChg>
      </pc:sldChg>
      <pc:sldChg chg="modSp new mod">
        <pc:chgData name="poojithamullapudi86@gmail.com" userId="1a81917ccf916a64" providerId="LiveId" clId="{74D718CE-49C3-45D8-A7F9-E0ADD61EA6F5}" dt="2026-08-29T05:07:31.938" v="1939" actId="123"/>
        <pc:sldMkLst>
          <pc:docMk/>
          <pc:sldMk cId="3244900722" sldId="258"/>
        </pc:sldMkLst>
        <pc:spChg chg="mod">
          <ac:chgData name="poojithamullapudi86@gmail.com" userId="1a81917ccf916a64" providerId="LiveId" clId="{74D718CE-49C3-45D8-A7F9-E0ADD61EA6F5}" dt="2026-08-29T05:07:31.938" v="1939" actId="123"/>
          <ac:spMkLst>
            <pc:docMk/>
            <pc:sldMk cId="3244900722" sldId="258"/>
            <ac:spMk id="3" creationId="{3868307F-4C07-CE2B-1683-D8F6A612D0BD}"/>
          </ac:spMkLst>
        </pc:spChg>
      </pc:sldChg>
      <pc:sldChg chg="modSp mod">
        <pc:chgData name="poojithamullapudi86@gmail.com" userId="1a81917ccf916a64" providerId="LiveId" clId="{74D718CE-49C3-45D8-A7F9-E0ADD61EA6F5}" dt="2026-09-08T02:30:27" v="2033" actId="1076"/>
        <pc:sldMkLst>
          <pc:docMk/>
          <pc:sldMk cId="3723803346" sldId="262"/>
        </pc:sldMkLst>
        <pc:spChg chg="mod">
          <ac:chgData name="poojithamullapudi86@gmail.com" userId="1a81917ccf916a64" providerId="LiveId" clId="{74D718CE-49C3-45D8-A7F9-E0ADD61EA6F5}" dt="2026-09-08T02:30:27" v="2033" actId="1076"/>
          <ac:spMkLst>
            <pc:docMk/>
            <pc:sldMk cId="3723803346" sldId="262"/>
            <ac:spMk id="2" creationId="{18F2DD7C-B0F1-69F7-5646-9849AEC0048B}"/>
          </ac:spMkLst>
        </pc:spChg>
      </pc:sldChg>
      <pc:sldChg chg="addSp delSp modSp new mod">
        <pc:chgData name="poojithamullapudi86@gmail.com" userId="1a81917ccf916a64" providerId="LiveId" clId="{74D718CE-49C3-45D8-A7F9-E0ADD61EA6F5}" dt="2026-09-08T02:28:32.740" v="2017" actId="1076"/>
        <pc:sldMkLst>
          <pc:docMk/>
          <pc:sldMk cId="2326035003" sldId="264"/>
        </pc:sldMkLst>
        <pc:spChg chg="mod">
          <ac:chgData name="poojithamullapudi86@gmail.com" userId="1a81917ccf916a64" providerId="LiveId" clId="{74D718CE-49C3-45D8-A7F9-E0ADD61EA6F5}" dt="2026-09-08T02:28:26.170" v="2016" actId="1076"/>
          <ac:spMkLst>
            <pc:docMk/>
            <pc:sldMk cId="2326035003" sldId="264"/>
            <ac:spMk id="2" creationId="{BABA66DC-B18E-0D7C-6782-A821535B9EBA}"/>
          </ac:spMkLst>
        </pc:spChg>
        <pc:spChg chg="mod">
          <ac:chgData name="poojithamullapudi86@gmail.com" userId="1a81917ccf916a64" providerId="LiveId" clId="{74D718CE-49C3-45D8-A7F9-E0ADD61EA6F5}" dt="2026-09-08T02:28:32.740" v="2017" actId="1076"/>
          <ac:spMkLst>
            <pc:docMk/>
            <pc:sldMk cId="2326035003" sldId="264"/>
            <ac:spMk id="3" creationId="{390A2FE6-CE47-8358-F2E0-F479281B32AB}"/>
          </ac:spMkLst>
        </pc:spChg>
        <pc:spChg chg="add del mod">
          <ac:chgData name="poojithamullapudi86@gmail.com" userId="1a81917ccf916a64" providerId="LiveId" clId="{74D718CE-49C3-45D8-A7F9-E0ADD61EA6F5}" dt="2026-09-08T02:27:15.284" v="2004" actId="478"/>
          <ac:spMkLst>
            <pc:docMk/>
            <pc:sldMk cId="2326035003" sldId="264"/>
            <ac:spMk id="4" creationId="{46304252-9127-845E-CFEE-0A94B3BBD1B9}"/>
          </ac:spMkLst>
        </pc:spChg>
      </pc:sldChg>
      <pc:sldChg chg="addSp delSp modSp new mod">
        <pc:chgData name="poojithamullapudi86@gmail.com" userId="1a81917ccf916a64" providerId="LiveId" clId="{74D718CE-49C3-45D8-A7F9-E0ADD61EA6F5}" dt="2026-09-08T02:28:52.903" v="2022" actId="5793"/>
        <pc:sldMkLst>
          <pc:docMk/>
          <pc:sldMk cId="2282852831" sldId="265"/>
        </pc:sldMkLst>
        <pc:spChg chg="mod">
          <ac:chgData name="poojithamullapudi86@gmail.com" userId="1a81917ccf916a64" providerId="LiveId" clId="{74D718CE-49C3-45D8-A7F9-E0ADD61EA6F5}" dt="2026-09-08T02:28:52.903" v="2022" actId="5793"/>
          <ac:spMkLst>
            <pc:docMk/>
            <pc:sldMk cId="2282852831" sldId="265"/>
            <ac:spMk id="3" creationId="{203A31FF-F884-9A13-044E-025BACACC01B}"/>
          </ac:spMkLst>
        </pc:spChg>
        <pc:spChg chg="add del mod">
          <ac:chgData name="poojithamullapudi86@gmail.com" userId="1a81917ccf916a64" providerId="LiveId" clId="{74D718CE-49C3-45D8-A7F9-E0ADD61EA6F5}" dt="2026-09-08T02:28:40.206" v="2018" actId="478"/>
          <ac:spMkLst>
            <pc:docMk/>
            <pc:sldMk cId="2282852831" sldId="265"/>
            <ac:spMk id="8" creationId="{01831EB9-594C-D728-2407-D38F4516237C}"/>
          </ac:spMkLst>
        </pc:spChg>
      </pc:sldChg>
      <pc:sldChg chg="modSp mod ord">
        <pc:chgData name="poojithamullapudi86@gmail.com" userId="1a81917ccf916a64" providerId="LiveId" clId="{74D718CE-49C3-45D8-A7F9-E0ADD61EA6F5}" dt="2026-09-08T02:27:00.667" v="2003" actId="1076"/>
        <pc:sldMkLst>
          <pc:docMk/>
          <pc:sldMk cId="4220871028" sldId="267"/>
        </pc:sldMkLst>
        <pc:spChg chg="mod">
          <ac:chgData name="poojithamullapudi86@gmail.com" userId="1a81917ccf916a64" providerId="LiveId" clId="{74D718CE-49C3-45D8-A7F9-E0ADD61EA6F5}" dt="2026-09-08T02:26:01.711" v="1999" actId="20577"/>
          <ac:spMkLst>
            <pc:docMk/>
            <pc:sldMk cId="4220871028" sldId="267"/>
            <ac:spMk id="2" creationId="{44508105-442F-0EAD-37D4-9D08ABF5AB48}"/>
          </ac:spMkLst>
        </pc:spChg>
        <pc:picChg chg="mod modCrop">
          <ac:chgData name="poojithamullapudi86@gmail.com" userId="1a81917ccf916a64" providerId="LiveId" clId="{74D718CE-49C3-45D8-A7F9-E0ADD61EA6F5}" dt="2026-09-08T02:27:00.667" v="2003" actId="1076"/>
          <ac:picMkLst>
            <pc:docMk/>
            <pc:sldMk cId="4220871028" sldId="267"/>
            <ac:picMk id="4" creationId="{72A04231-C45F-7952-5DF1-D030D3AC62A1}"/>
          </ac:picMkLst>
        </pc:picChg>
      </pc:sldChg>
      <pc:sldChg chg="modSp new mod">
        <pc:chgData name="poojithamullapudi86@gmail.com" userId="1a81917ccf916a64" providerId="LiveId" clId="{74D718CE-49C3-45D8-A7F9-E0ADD61EA6F5}" dt="2026-09-08T02:30:10.439" v="2032" actId="1076"/>
        <pc:sldMkLst>
          <pc:docMk/>
          <pc:sldMk cId="2545078588" sldId="268"/>
        </pc:sldMkLst>
        <pc:spChg chg="mod">
          <ac:chgData name="poojithamullapudi86@gmail.com" userId="1a81917ccf916a64" providerId="LiveId" clId="{74D718CE-49C3-45D8-A7F9-E0ADD61EA6F5}" dt="2026-09-08T02:30:10.439" v="2032" actId="1076"/>
          <ac:spMkLst>
            <pc:docMk/>
            <pc:sldMk cId="2545078588" sldId="268"/>
            <ac:spMk id="2" creationId="{1A7C593C-C49B-1096-8460-55C375B330E6}"/>
          </ac:spMkLst>
        </pc:spChg>
        <pc:spChg chg="mod">
          <ac:chgData name="poojithamullapudi86@gmail.com" userId="1a81917ccf916a64" providerId="LiveId" clId="{74D718CE-49C3-45D8-A7F9-E0ADD61EA6F5}" dt="2026-09-08T02:30:05.100" v="2031" actId="1076"/>
          <ac:spMkLst>
            <pc:docMk/>
            <pc:sldMk cId="2545078588" sldId="268"/>
            <ac:spMk id="3" creationId="{F6AA8937-FF5E-4F54-E60B-0F64CE4C16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9991-243E-3ECA-32E2-F1E74A306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2001F-261F-B9D1-E048-7A6847825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1DF2F-0257-1AF0-8BA9-871C60BF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61568-ABC2-6FFA-1CA8-F841BC26C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7E940-5F77-9B35-914B-5DC7BC06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73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2B41C-8604-EDF8-73F2-A34FE3B4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6FE5F-6759-6849-6744-6C525AE5B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ACBE0-F084-4137-6F4B-BC3D662B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B34C6-3EE6-25F5-7CC6-F903051D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AB47F-B706-4500-BA0C-FC010378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54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7314-A4AC-0D88-87B2-A339FAED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DBFBF-5639-AFED-6252-F97A4423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8D07-D4D3-2FBD-B908-B7C56820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74A4-C169-5A65-978D-5C674AE7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8F32-900E-6526-C782-27E20CA0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75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56CE-2995-FBF3-57C0-04D3841A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63A5-29A7-3E34-D400-FC3049812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168C4-2856-DD29-2B76-D6D9A08E4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9AEFF-E84D-9FA7-EF32-7CD11E49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F7D08-F7F8-3657-877D-213E101E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4B2C3-DB18-EE52-78AF-8ED9C624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2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7DD-C423-63A9-D256-5C3DD8BF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06C51-5407-88EB-44A2-2C4E8973F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6CFE4-B361-5E14-318E-5E1D7D690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7A77A-753D-BC39-3A05-62B1BF4D1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BD019-0336-90FB-7104-88B7F3444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6B8ED-295D-B7FF-E241-482E0D55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4F015-2ACC-34D0-6784-017AF4A0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669EE-42C4-6D93-0D3A-2FA6C39B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85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A48A6-8206-7A00-D965-56A08125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11DBE-CA54-C297-3527-B95162C4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265FB-744E-2AC1-E758-4436756E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ACA9F-116E-5CF9-AD6A-CB15A841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847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6226FE-E820-5508-1935-2AF248F4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5D478-311B-F65A-3592-820B0585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F98BA-1306-EDFD-AD1E-5641E79F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929D-C93D-16CE-5A46-96972440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AEBB-9098-2FF1-EC4C-1A1744F9A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33C3F-DEA6-6ED5-F957-9C41D25CB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C254C-515A-FC80-A47A-D00166FF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6A679-BBFA-BF82-82A8-4BE1DE58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C89CC-B252-34E2-7E4F-F1E08D61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30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E758-2C43-3EF3-4C80-D76FF2DF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D8F98-D6D3-7CEA-64C0-F2052DAB3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76A48-27DC-0480-5971-5DDCEE8C9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8FF57-97D6-7E21-E4E3-91D2082E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BCD7-1EE0-3AAD-2F0C-14CE0D42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A846C-DE0C-C4DE-B943-60C31413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5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FF5B-3DFC-B37F-2938-76E7D53B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2FFF0-60EB-EF88-BE73-3172A0053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6F59F-0CDA-AE25-B97E-8440775F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3908B-BCE7-E22B-3991-5D6760C1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D7107-804E-CF40-9AFE-0C3E50EB4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37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B569BE-CAE3-0BAD-5335-3EB461B97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3CE22-145C-1DE6-07F5-CD4A2E0D7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E68EE-51B3-7B6F-268D-761E9925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C0F46-8038-46A6-2ED6-6C9CD90A9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F376-1374-797D-5BEB-8FBB4CFD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62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88000">
              <a:schemeClr val="bg1">
                <a:lumMod val="95000"/>
                <a:alpha val="5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46FC6-0CEB-6CA2-A41A-D51E1847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55F61-2952-510B-4E59-72B9A2B1D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3ABC0-9045-0051-7B18-32AC1125C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E9B8-8FA9-40F2-8CF1-DB49C305A6F6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795D3-3F1C-11C3-5CA1-3A31939A3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A95B4-7C18-B156-1964-039B193F8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9497-0D46-4CB8-B54E-4CE46370E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84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D272-E015-8271-F656-454DD5651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9527"/>
            <a:ext cx="9144000" cy="23876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Manipulative Content Detection and Risk Assessment Using NLP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25AC0-9811-D661-6524-70D16F78A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379" y="3430873"/>
            <a:ext cx="9144000" cy="27574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 Poojitha Reddy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– 192472352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Ch Sai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- 192472367</a:t>
            </a:r>
            <a:endParaRPr lang="en-IN" sz="1800">
              <a:latin typeface="Times New Roman"/>
              <a:cs typeface="Times New Roman"/>
            </a:endParaRPr>
          </a:p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Dr Kumaragurubaran T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aveetha Institute of Medical and ...">
            <a:extLst>
              <a:ext uri="{FF2B5EF4-FFF2-40B4-BE49-F238E27FC236}">
                <a16:creationId xmlns:a16="http://schemas.microsoft.com/office/drawing/2014/main" id="{C49E899E-FCBB-23A2-DBD5-C2830F85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" y="-1134"/>
            <a:ext cx="989240" cy="1011011"/>
          </a:xfrm>
          <a:prstGeom prst="rect">
            <a:avLst/>
          </a:prstGeom>
        </p:spPr>
      </p:pic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id="{1A539C8C-E3A4-38DB-AC97-3C7DDC605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261" y="0"/>
            <a:ext cx="980334" cy="1008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5C4384-59E1-A37B-2AA4-09425299115E}"/>
              </a:ext>
            </a:extLst>
          </p:cNvPr>
          <p:cNvSpPr txBox="1"/>
          <p:nvPr/>
        </p:nvSpPr>
        <p:spPr>
          <a:xfrm>
            <a:off x="3520799" y="646587"/>
            <a:ext cx="78265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imes New Roman"/>
                <a:ea typeface="Calibri"/>
                <a:cs typeface="Times New Roman"/>
              </a:rPr>
              <a:t>DSA0308-Natural Language Processing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7580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CCBA9-289B-DEE5-D3FA-1E0FC2FC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9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307F-4C07-CE2B-1683-D8F6A612D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359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has become a major platform for sharing news, opinions, alerts, and information.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However, online content can use emotionally charged, sensational, urgent, or exaggerated language to influence user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Such communication may encourage users to click links, share information, or take immediate action without careful verification.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Social Media Manipulation Analyzer that examines the linguistic characteristics of social-media content.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two types of input: social-media posts and messages associated with links.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patterns such as emotional language, sensationalism, urgency, excessive capitalization, punctuation, calls-to-action, and suspicious requests.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machine-learning component using TF-IDF and classification algorithms provides additional text classification support.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8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490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9E8-483F-CBDB-B04B-EC1D15226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3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PROBLEM STATEMENT</a:t>
            </a:r>
            <a:endParaRPr lang="en-IN" sz="32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2832B-B9FB-C5D9-DDDF-ADE34F644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3" y="2006600"/>
            <a:ext cx="1014533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users are exposed to large amounts of online content containing sensational, emotional, urgent, and persuasive language.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Such language can influence users to click links, share posts, provide information, or take immediate actions without proper verification.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Existing misinformation detection systems often focus mainly on classifying content as fake or real, which may not explain the linguistic techniques used to influence users.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Users therefore need an understandable way to identify manipulative communication patterns in social-media posts and link-associated messages.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addresses this problem by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textual content for emotional language, sensationalism, urgency, excessive capitalization, punctuation, calls-to-action, and suspicious requests. </a:t>
            </a:r>
          </a:p>
          <a:p>
            <a:pPr lvl="0" algn="just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 Manipulation Risk Score along with detected linguistic signals and explanations, helping users understand the characteristics that may make a message manipulative.</a:t>
            </a:r>
          </a:p>
          <a:p>
            <a:pPr marL="0" indent="0">
              <a:buNone/>
            </a:pP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98461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AD93E7-F760-8421-9244-BE210B7FE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383781"/>
              </p:ext>
            </p:extLst>
          </p:nvPr>
        </p:nvGraphicFramePr>
        <p:xfrm>
          <a:off x="741680" y="627944"/>
          <a:ext cx="10327053" cy="571106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36654">
                  <a:extLst>
                    <a:ext uri="{9D8B030D-6E8A-4147-A177-3AD203B41FA5}">
                      <a16:colId xmlns:a16="http://schemas.microsoft.com/office/drawing/2014/main" val="3660831888"/>
                    </a:ext>
                  </a:extLst>
                </a:gridCol>
                <a:gridCol w="2529144">
                  <a:extLst>
                    <a:ext uri="{9D8B030D-6E8A-4147-A177-3AD203B41FA5}">
                      <a16:colId xmlns:a16="http://schemas.microsoft.com/office/drawing/2014/main" val="2271804189"/>
                    </a:ext>
                  </a:extLst>
                </a:gridCol>
                <a:gridCol w="2303678">
                  <a:extLst>
                    <a:ext uri="{9D8B030D-6E8A-4147-A177-3AD203B41FA5}">
                      <a16:colId xmlns:a16="http://schemas.microsoft.com/office/drawing/2014/main" val="4147205864"/>
                    </a:ext>
                  </a:extLst>
                </a:gridCol>
                <a:gridCol w="2472240">
                  <a:extLst>
                    <a:ext uri="{9D8B030D-6E8A-4147-A177-3AD203B41FA5}">
                      <a16:colId xmlns:a16="http://schemas.microsoft.com/office/drawing/2014/main" val="3096892524"/>
                    </a:ext>
                  </a:extLst>
                </a:gridCol>
                <a:gridCol w="2585337">
                  <a:extLst>
                    <a:ext uri="{9D8B030D-6E8A-4147-A177-3AD203B41FA5}">
                      <a16:colId xmlns:a16="http://schemas.microsoft.com/office/drawing/2014/main" val="461094007"/>
                    </a:ext>
                  </a:extLst>
                </a:gridCol>
              </a:tblGrid>
              <a:tr h="2822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 / Limitations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446" marR="25446" marT="12723" marB="12723" anchor="ctr"/>
                </a:tc>
                <a:extLst>
                  <a:ext uri="{0D108BD9-81ED-4DB2-BD59-A6C34878D82A}">
                    <a16:rowId xmlns:a16="http://schemas.microsoft.com/office/drawing/2014/main" val="2972291914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H., Traore I., &amp; Saad S. (2018)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Opinion Spam and Fake News Using Text Classification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TF-IDF feature extraction with machine learning classifiers such as Naïve Bayes and SVM.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accuracy when handling complex or ambiguous text; sensitive to feature selection.</a:t>
                      </a:r>
                    </a:p>
                  </a:txBody>
                  <a:tcPr marL="25446" marR="25446" marT="12723" marB="12723" anchor="ctr"/>
                </a:tc>
                <a:extLst>
                  <a:ext uri="{0D108BD9-81ED-4DB2-BD59-A6C34878D82A}">
                    <a16:rowId xmlns:a16="http://schemas.microsoft.com/office/drawing/2014/main" val="1939946867"/>
                  </a:ext>
                </a:extLst>
              </a:tr>
              <a:tr h="777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 K., Sliva A., Wang S., Tang J., &amp; Liu H. (2017)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Fake News Detection on Social Media: A Data Mining Perspective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Surveyed data mining and NLP techniques for misinformation detection.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 extensive text preprocessing and may not generalize well to unseen misinformation..</a:t>
                      </a:r>
                    </a:p>
                  </a:txBody>
                  <a:tcPr marL="25446" marR="25446" marT="12723" marB="12723" anchor="ctr"/>
                </a:tc>
                <a:extLst>
                  <a:ext uri="{0D108BD9-81ED-4DB2-BD59-A6C34878D82A}">
                    <a16:rowId xmlns:a16="http://schemas.microsoft.com/office/drawing/2014/main" val="2475955206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W. Y. (2017)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Liar, Liar Pants on Fire: A New Benchmark Dataset for Fake News Detection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the LIAR dataset and evaluated machine learning models.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when applied to real-time social media data with evolving content.</a:t>
                      </a:r>
                    </a:p>
                  </a:txBody>
                  <a:tcPr marL="25446" marR="25446" marT="12723" marB="12723" anchor="ctr"/>
                </a:tc>
                <a:extLst>
                  <a:ext uri="{0D108BD9-81ED-4DB2-BD59-A6C34878D82A}">
                    <a16:rowId xmlns:a16="http://schemas.microsoft.com/office/drawing/2014/main" val="1180560811"/>
                  </a:ext>
                </a:extLst>
              </a:tr>
              <a:tr h="10255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Pérez-Rosas V., Kleinberg B., Lefevre A., &amp; Mihalcea R. (2018)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Detection of Fake News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linguistic feature extraction and machine learning classifiers.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that combining linguistic features with classification algorithms improves detection accuracy.</a:t>
                      </a:r>
                    </a:p>
                  </a:txBody>
                  <a:tcPr marL="25446" marR="25446" marT="12723" marB="12723" anchor="ctr"/>
                </a:tc>
                <a:extLst>
                  <a:ext uri="{0D108BD9-81ED-4DB2-BD59-A6C34878D82A}">
                    <a16:rowId xmlns:a16="http://schemas.microsoft.com/office/drawing/2014/main" val="983677267"/>
                  </a:ext>
                </a:extLst>
              </a:tr>
              <a:tr h="912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J., Chang M. W., Lee K., &amp; Toutanova K. (2019)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BERT: Pre-training of Deep Bidirectional Transformers for Language Understanding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the BERT transformer model for NLP tasks.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only on textual patterns and may fail to detect context-dependent misinformation.</a:t>
                      </a:r>
                    </a:p>
                  </a:txBody>
                  <a:tcPr marL="25446" marR="25446" marT="12723" marB="12723" anchor="ctr"/>
                </a:tc>
                <a:extLst>
                  <a:ext uri="{0D108BD9-81ED-4DB2-BD59-A6C34878D82A}">
                    <a16:rowId xmlns:a16="http://schemas.microsoft.com/office/drawing/2014/main" val="2808932227"/>
                  </a:ext>
                </a:extLst>
              </a:tr>
              <a:tr h="777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Kaliyar R. K., Goswami A., &amp; Narang P. (2021)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FakeBERT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Fake News Detection in Social Media with BERT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BERT embeddings with deep learning for fake news classification.</a:t>
                      </a:r>
                    </a:p>
                  </a:txBody>
                  <a:tcPr marL="25446" marR="25446" marT="12723" marB="12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model size makes real-time deployment difficult on resource-limited systems.</a:t>
                      </a:r>
                    </a:p>
                  </a:txBody>
                  <a:tcPr marL="25446" marR="25446" marT="12723" marB="12723" anchor="ctr"/>
                </a:tc>
                <a:extLst>
                  <a:ext uri="{0D108BD9-81ED-4DB2-BD59-A6C34878D82A}">
                    <a16:rowId xmlns:a16="http://schemas.microsoft.com/office/drawing/2014/main" val="936453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81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8105-442F-0EAD-37D4-9D08ABF5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Working of algorithms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A04231-C45F-7952-5DF1-D030D3AC6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905"/>
          <a:stretch>
            <a:fillRect/>
          </a:stretch>
        </p:blipFill>
        <p:spPr>
          <a:xfrm>
            <a:off x="1809040" y="1585519"/>
            <a:ext cx="7798506" cy="468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7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66DC-B18E-0D7C-6782-A821535B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0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Text Processing and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A2FE6-CE47-8358-F2E0-F479281B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918" y="1742588"/>
            <a:ext cx="7975060" cy="4384657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to lowercase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URLs and special characters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stop words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 Extraction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cleaned text into numerical feature vectors.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Frequency–Inverse Document Frequency (TF-IDF)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unigrams and bigrams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individual words and word combinations. </a:t>
            </a:r>
          </a:p>
          <a:p>
            <a:pPr marL="0" lvl="0" indent="0">
              <a:buNone/>
            </a:pPr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Linguistic Feature Extraction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Language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Sensationalism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Capitalization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Punctuation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Call-to-Action phrases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Request phrases </a:t>
            </a:r>
          </a:p>
          <a:p>
            <a:pPr marL="0" lvl="0" indent="0">
              <a:buNone/>
            </a:pPr>
            <a:r>
              <a:rPr lang="en-IN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Scoring</a:t>
            </a:r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detected linguistic characteristic is converted into a 0–100 score. </a:t>
            </a:r>
          </a:p>
          <a:p>
            <a:pPr lvl="1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scores are later used to calculate the overall Manipulation Risk Score.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03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B728-FBFF-BCDB-51DD-9836A0BE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Times New Roman"/>
                <a:cs typeface="Times New Roman"/>
              </a:rPr>
              <a:t>Module 2: Text Classification and Misinformation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A31FF-F884-9A13-044E-025BACACC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89843" cy="435133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probabilistic classification algorithm.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probability of each class based on the words present in the text.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text classification because it works efficiently with high-dimensional TF-IDF features. 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supervised classification algorithm used for binary classification.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the relationship between TF-IDF features and the dataset labels.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classification decision based on learned feature weights. 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a decision boundary that separates the two classes.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high-dimensional text data.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uses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LinearSVC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0" lvl="0" indent="0">
              <a:buNone/>
            </a:pP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models are evaluated using: 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85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593C-C49B-1096-8460-55C375B3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11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A8937-FF5E-4F54-E60B-0F64CE4C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646" y="1934682"/>
            <a:ext cx="9840985" cy="4351338"/>
          </a:xfrm>
        </p:spPr>
        <p:txBody>
          <a:bodyPr>
            <a:normAutofit/>
          </a:bodyPr>
          <a:lstStyle/>
          <a:p>
            <a:pPr lvl="0" algn="just">
              <a:lnSpc>
                <a:spcPct val="12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Content Analysis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Extend the system to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manipulative content in multiple Indian and international languages, including Tamil, Telugu, Hindi, and Malayalam. </a:t>
            </a:r>
          </a:p>
          <a:p>
            <a:pPr lvl="0" algn="just">
              <a:lnSpc>
                <a:spcPct val="12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Content Detection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image, video, and audio analysis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with text to detect manipulation in memes, edited images, misleading videos, and voice-based content. </a:t>
            </a:r>
          </a:p>
          <a:p>
            <a:pPr lvl="0" algn="just">
              <a:lnSpc>
                <a:spcPct val="12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Transformer Models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models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BERT,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multilingual transformers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the detection of subtle linguistic manipulation and contextual meaning. </a:t>
            </a:r>
          </a:p>
          <a:p>
            <a:pPr lvl="0" algn="just">
              <a:lnSpc>
                <a:spcPct val="12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Social Media Monitoring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a real-time monitoring system that can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posts and provide an immediate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risk score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content is published or shared. </a:t>
            </a:r>
          </a:p>
          <a:p>
            <a:pPr lvl="0" algn="just">
              <a:lnSpc>
                <a:spcPct val="12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Context and Conversation Analysis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Incorporate previous posts, comments, and conversation context to better understand manipulative content that depends on surrounding information.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07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DD7C-B0F1-69F7-5646-9849AEC00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861" y="10618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ea typeface="Calibri Light"/>
                <a:cs typeface="Times New Rom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BFAEE-582A-477F-9EE2-6349B03BB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861" y="2278659"/>
            <a:ext cx="96493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effective approach for detecting misinformation on social media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 extraction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preprocessing textual data and transforming it into meaningful numerical features, the system accurately classifies social media posts as genuine or misleading.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provides a computationally efficient and reliable solution compared to more complex deep learning methods, making it suitable for real-time applications.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NLP and machine learning can be effectively utilized to combat the rapid spread of misinformation, helping users access more reliable information and promoting a safer digital communication environment.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803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BFA36-0DA1-EB99-EFB7-3DC976F91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 sz="880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8800">
                <a:latin typeface="Old English Text MT" panose="03040902040508030806" pitchFamily="66" charset="0"/>
                <a:ea typeface="Calibri"/>
                <a:cs typeface="Calibri"/>
              </a:rPr>
              <a:t>THANK YOU</a:t>
            </a:r>
            <a:endParaRPr lang="en-US">
              <a:latin typeface="Old English Text MT" panose="03040902040508030806" pitchFamily="66" charset="0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81443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1093</Words>
  <Application>Microsoft Office PowerPoint</Application>
  <PresentationFormat>Widescreen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Old English Text MT</vt:lpstr>
      <vt:lpstr>Times New Roman</vt:lpstr>
      <vt:lpstr>Office Theme</vt:lpstr>
      <vt:lpstr>Social Media Manipulative Content Detection and Risk Assessment Using NLP </vt:lpstr>
      <vt:lpstr>INTRODUCTION</vt:lpstr>
      <vt:lpstr>PROBLEM STATEMENT</vt:lpstr>
      <vt:lpstr>PowerPoint Presentation</vt:lpstr>
      <vt:lpstr>Working of algorithms :</vt:lpstr>
      <vt:lpstr>Module 1: Text Processing and Feature Engineering</vt:lpstr>
      <vt:lpstr>Module 2: Text Classification and Misinformation Detection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poojithamullapudi86@gmail.com</dc:creator>
  <cp:lastModifiedBy>poojithamullapudi86@gmail.com</cp:lastModifiedBy>
  <cp:revision>1</cp:revision>
  <dcterms:created xsi:type="dcterms:W3CDTF">2026-06-21T14:04:36Z</dcterms:created>
  <dcterms:modified xsi:type="dcterms:W3CDTF">2026-09-08T02:30:43Z</dcterms:modified>
</cp:coreProperties>
</file>